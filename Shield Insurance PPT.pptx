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Canva Sans" panose="020B0604020202020204" charset="0"/>
      <p:regular r:id="rId8"/>
    </p:embeddedFont>
    <p:embeddedFont>
      <p:font typeface="Canva Sans Bold" panose="020B0604020202020204" charset="0"/>
      <p:regular r:id="rId9"/>
    </p:embeddedFont>
    <p:embeddedFont>
      <p:font typeface="Telegraf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2" d="100"/>
          <a:sy n="42" d="100"/>
        </p:scale>
        <p:origin x="780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36" r="-113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701922" y="3227909"/>
            <a:ext cx="12884155" cy="2995231"/>
            <a:chOff x="0" y="0"/>
            <a:chExt cx="3393358" cy="7888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393358" cy="788867"/>
            </a:xfrm>
            <a:custGeom>
              <a:avLst/>
              <a:gdLst/>
              <a:ahLst/>
              <a:cxnLst/>
              <a:rect l="l" t="t" r="r" b="b"/>
              <a:pathLst>
                <a:path w="3393358" h="788867">
                  <a:moveTo>
                    <a:pt x="18627" y="0"/>
                  </a:moveTo>
                  <a:lnTo>
                    <a:pt x="3374730" y="0"/>
                  </a:lnTo>
                  <a:cubicBezTo>
                    <a:pt x="3385018" y="0"/>
                    <a:pt x="3393358" y="8340"/>
                    <a:pt x="3393358" y="18627"/>
                  </a:cubicBezTo>
                  <a:lnTo>
                    <a:pt x="3393358" y="770240"/>
                  </a:lnTo>
                  <a:cubicBezTo>
                    <a:pt x="3393358" y="780528"/>
                    <a:pt x="3385018" y="788867"/>
                    <a:pt x="3374730" y="788867"/>
                  </a:cubicBezTo>
                  <a:lnTo>
                    <a:pt x="18627" y="788867"/>
                  </a:lnTo>
                  <a:cubicBezTo>
                    <a:pt x="8340" y="788867"/>
                    <a:pt x="0" y="780528"/>
                    <a:pt x="0" y="770240"/>
                  </a:cubicBezTo>
                  <a:lnTo>
                    <a:pt x="0" y="18627"/>
                  </a:lnTo>
                  <a:cubicBezTo>
                    <a:pt x="0" y="8340"/>
                    <a:pt x="8340" y="0"/>
                    <a:pt x="18627" y="0"/>
                  </a:cubicBezTo>
                  <a:close/>
                </a:path>
              </a:pathLst>
            </a:custGeom>
            <a:solidFill>
              <a:srgbClr val="FAFCFB">
                <a:alpha val="60000"/>
              </a:srgbClr>
            </a:solidFill>
            <a:ln w="9525" cap="rnd">
              <a:solidFill>
                <a:srgbClr val="FAFCFB">
                  <a:alpha val="60000"/>
                </a:srgbClr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3393358" cy="8650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971799" y="3457653"/>
            <a:ext cx="12344400" cy="25276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1000"/>
              </a:lnSpc>
              <a:spcBef>
                <a:spcPct val="0"/>
              </a:spcBef>
            </a:pPr>
            <a:r>
              <a:rPr lang="en-US" sz="14000" spc="-1125" dirty="0">
                <a:solidFill>
                  <a:srgbClr val="0D0E10"/>
                </a:solidFill>
                <a:latin typeface="Telegraf"/>
                <a:ea typeface="Telegraf"/>
                <a:cs typeface="Telegraf"/>
                <a:sym typeface="Telegraf"/>
              </a:rPr>
              <a:t>Shield Insurance 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6954117" y="6213614"/>
            <a:ext cx="4379766" cy="943730"/>
            <a:chOff x="0" y="0"/>
            <a:chExt cx="1153519" cy="24855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53519" cy="248554"/>
            </a:xfrm>
            <a:custGeom>
              <a:avLst/>
              <a:gdLst/>
              <a:ahLst/>
              <a:cxnLst/>
              <a:rect l="l" t="t" r="r" b="b"/>
              <a:pathLst>
                <a:path w="1153519" h="248554">
                  <a:moveTo>
                    <a:pt x="35353" y="0"/>
                  </a:moveTo>
                  <a:lnTo>
                    <a:pt x="1118166" y="0"/>
                  </a:lnTo>
                  <a:cubicBezTo>
                    <a:pt x="1127542" y="0"/>
                    <a:pt x="1136534" y="3725"/>
                    <a:pt x="1143164" y="10355"/>
                  </a:cubicBezTo>
                  <a:cubicBezTo>
                    <a:pt x="1149794" y="16985"/>
                    <a:pt x="1153519" y="25977"/>
                    <a:pt x="1153519" y="35353"/>
                  </a:cubicBezTo>
                  <a:lnTo>
                    <a:pt x="1153519" y="213201"/>
                  </a:lnTo>
                  <a:cubicBezTo>
                    <a:pt x="1153519" y="222578"/>
                    <a:pt x="1149794" y="231570"/>
                    <a:pt x="1143164" y="238200"/>
                  </a:cubicBezTo>
                  <a:cubicBezTo>
                    <a:pt x="1136534" y="244830"/>
                    <a:pt x="1127542" y="248554"/>
                    <a:pt x="1118166" y="248554"/>
                  </a:cubicBezTo>
                  <a:lnTo>
                    <a:pt x="35353" y="248554"/>
                  </a:lnTo>
                  <a:cubicBezTo>
                    <a:pt x="25977" y="248554"/>
                    <a:pt x="16985" y="244830"/>
                    <a:pt x="10355" y="238200"/>
                  </a:cubicBezTo>
                  <a:cubicBezTo>
                    <a:pt x="3725" y="231570"/>
                    <a:pt x="0" y="222578"/>
                    <a:pt x="0" y="213201"/>
                  </a:cubicBezTo>
                  <a:lnTo>
                    <a:pt x="0" y="35353"/>
                  </a:lnTo>
                  <a:cubicBezTo>
                    <a:pt x="0" y="25977"/>
                    <a:pt x="3725" y="16985"/>
                    <a:pt x="10355" y="10355"/>
                  </a:cubicBezTo>
                  <a:cubicBezTo>
                    <a:pt x="16985" y="3725"/>
                    <a:pt x="25977" y="0"/>
                    <a:pt x="3535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AFCFB">
                    <a:alpha val="100000"/>
                  </a:srgbClr>
                </a:gs>
                <a:gs pos="100000">
                  <a:srgbClr val="C6CACB">
                    <a:alpha val="100000"/>
                  </a:srgbClr>
                </a:gs>
              </a:gsLst>
              <a:lin ang="5400000"/>
            </a:gradFill>
            <a:ln w="9525" cap="sq">
              <a:solidFill>
                <a:srgbClr val="FAFCFB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76200"/>
              <a:ext cx="1153519" cy="3247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6248211" y="6412429"/>
            <a:ext cx="5791578" cy="460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spc="-37">
                <a:solidFill>
                  <a:srgbClr val="0D0E10"/>
                </a:solidFill>
                <a:latin typeface="Telegraf"/>
                <a:ea typeface="Telegraf"/>
                <a:cs typeface="Telegraf"/>
                <a:sym typeface="Telegraf"/>
              </a:rPr>
              <a:t>Financial Risk Protection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3D91">
                <a:alpha val="47000"/>
              </a:srgbClr>
            </a:gs>
            <a:gs pos="100000">
              <a:srgbClr val="0B3D91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73851"/>
            <a:chOff x="0" y="0"/>
            <a:chExt cx="4816593" cy="3881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88175"/>
            </a:xfrm>
            <a:custGeom>
              <a:avLst/>
              <a:gdLst/>
              <a:ahLst/>
              <a:cxnLst/>
              <a:rect l="l" t="t" r="r" b="b"/>
              <a:pathLst>
                <a:path w="4816592" h="388175">
                  <a:moveTo>
                    <a:pt x="0" y="0"/>
                  </a:moveTo>
                  <a:lnTo>
                    <a:pt x="4816592" y="0"/>
                  </a:lnTo>
                  <a:lnTo>
                    <a:pt x="4816592" y="388175"/>
                  </a:lnTo>
                  <a:lnTo>
                    <a:pt x="0" y="388175"/>
                  </a:lnTo>
                  <a:close/>
                </a:path>
              </a:pathLst>
            </a:custGeom>
            <a:solidFill>
              <a:srgbClr val="0D0E10">
                <a:alpha val="60000"/>
              </a:srgbClr>
            </a:solidFill>
            <a:ln w="9525" cap="sq">
              <a:solidFill>
                <a:srgbClr val="FAFCFB">
                  <a:alpha val="60000"/>
                </a:srgbClr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4816593" cy="464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578552" y="2482596"/>
            <a:ext cx="4586948" cy="6775704"/>
            <a:chOff x="0" y="0"/>
            <a:chExt cx="1208024" cy="178460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08024" cy="1784604"/>
            </a:xfrm>
            <a:custGeom>
              <a:avLst/>
              <a:gdLst/>
              <a:ahLst/>
              <a:cxnLst/>
              <a:rect l="l" t="t" r="r" b="b"/>
              <a:pathLst>
                <a:path w="1208024" h="1784604">
                  <a:moveTo>
                    <a:pt x="1208024" y="59074"/>
                  </a:moveTo>
                  <a:lnTo>
                    <a:pt x="1208024" y="1725531"/>
                  </a:lnTo>
                  <a:cubicBezTo>
                    <a:pt x="1208024" y="1758156"/>
                    <a:pt x="1181576" y="1784604"/>
                    <a:pt x="1148951" y="1784604"/>
                  </a:cubicBezTo>
                  <a:lnTo>
                    <a:pt x="59074" y="1784604"/>
                  </a:lnTo>
                  <a:cubicBezTo>
                    <a:pt x="43406" y="1784604"/>
                    <a:pt x="28381" y="1778380"/>
                    <a:pt x="17302" y="1767302"/>
                  </a:cubicBezTo>
                  <a:cubicBezTo>
                    <a:pt x="6224" y="1756223"/>
                    <a:pt x="0" y="1741198"/>
                    <a:pt x="0" y="1725531"/>
                  </a:cubicBezTo>
                  <a:lnTo>
                    <a:pt x="0" y="59074"/>
                  </a:lnTo>
                  <a:cubicBezTo>
                    <a:pt x="0" y="26448"/>
                    <a:pt x="26448" y="0"/>
                    <a:pt x="59074" y="0"/>
                  </a:cubicBezTo>
                  <a:lnTo>
                    <a:pt x="1148951" y="0"/>
                  </a:lnTo>
                  <a:cubicBezTo>
                    <a:pt x="1164618" y="0"/>
                    <a:pt x="1179643" y="6224"/>
                    <a:pt x="1190722" y="17302"/>
                  </a:cubicBezTo>
                  <a:cubicBezTo>
                    <a:pt x="1201800" y="28381"/>
                    <a:pt x="1208024" y="43406"/>
                    <a:pt x="1208024" y="59074"/>
                  </a:cubicBezTo>
                  <a:close/>
                </a:path>
              </a:pathLst>
            </a:custGeom>
            <a:ln w="38100" cap="rnd">
              <a:solidFill>
                <a:srgbClr val="0B3D91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1208024" cy="18608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4097481" y="3675903"/>
            <a:ext cx="1576648" cy="1467597"/>
          </a:xfrm>
          <a:custGeom>
            <a:avLst/>
            <a:gdLst/>
            <a:ahLst/>
            <a:cxnLst/>
            <a:rect l="l" t="t" r="r" b="b"/>
            <a:pathLst>
              <a:path w="1576648" h="1467597">
                <a:moveTo>
                  <a:pt x="0" y="0"/>
                </a:moveTo>
                <a:lnTo>
                  <a:pt x="1576648" y="0"/>
                </a:lnTo>
                <a:lnTo>
                  <a:pt x="1576648" y="1467597"/>
                </a:lnTo>
                <a:lnTo>
                  <a:pt x="0" y="14675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9922514" y="2482596"/>
            <a:ext cx="4586948" cy="6775704"/>
            <a:chOff x="0" y="0"/>
            <a:chExt cx="1208024" cy="178460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08024" cy="1784604"/>
            </a:xfrm>
            <a:custGeom>
              <a:avLst/>
              <a:gdLst/>
              <a:ahLst/>
              <a:cxnLst/>
              <a:rect l="l" t="t" r="r" b="b"/>
              <a:pathLst>
                <a:path w="1208024" h="1784604">
                  <a:moveTo>
                    <a:pt x="1208024" y="59074"/>
                  </a:moveTo>
                  <a:lnTo>
                    <a:pt x="1208024" y="1725531"/>
                  </a:lnTo>
                  <a:cubicBezTo>
                    <a:pt x="1208024" y="1758156"/>
                    <a:pt x="1181576" y="1784604"/>
                    <a:pt x="1148951" y="1784604"/>
                  </a:cubicBezTo>
                  <a:lnTo>
                    <a:pt x="59074" y="1784604"/>
                  </a:lnTo>
                  <a:cubicBezTo>
                    <a:pt x="43406" y="1784604"/>
                    <a:pt x="28381" y="1778380"/>
                    <a:pt x="17302" y="1767302"/>
                  </a:cubicBezTo>
                  <a:cubicBezTo>
                    <a:pt x="6224" y="1756223"/>
                    <a:pt x="0" y="1741198"/>
                    <a:pt x="0" y="1725531"/>
                  </a:cubicBezTo>
                  <a:lnTo>
                    <a:pt x="0" y="59074"/>
                  </a:lnTo>
                  <a:cubicBezTo>
                    <a:pt x="0" y="26448"/>
                    <a:pt x="26448" y="0"/>
                    <a:pt x="59074" y="0"/>
                  </a:cubicBezTo>
                  <a:lnTo>
                    <a:pt x="1148951" y="0"/>
                  </a:lnTo>
                  <a:cubicBezTo>
                    <a:pt x="1164618" y="0"/>
                    <a:pt x="1179643" y="6224"/>
                    <a:pt x="1190722" y="17302"/>
                  </a:cubicBezTo>
                  <a:cubicBezTo>
                    <a:pt x="1201800" y="28381"/>
                    <a:pt x="1208024" y="43406"/>
                    <a:pt x="1208024" y="59074"/>
                  </a:cubicBezTo>
                  <a:close/>
                </a:path>
              </a:pathLst>
            </a:custGeom>
            <a:ln w="38100" cap="rnd">
              <a:solidFill>
                <a:srgbClr val="0B3D91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76200"/>
              <a:ext cx="1208024" cy="18608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2672152" y="3675903"/>
            <a:ext cx="1467597" cy="1467597"/>
          </a:xfrm>
          <a:custGeom>
            <a:avLst/>
            <a:gdLst/>
            <a:ahLst/>
            <a:cxnLst/>
            <a:rect l="l" t="t" r="r" b="b"/>
            <a:pathLst>
              <a:path w="1467597" h="1467597">
                <a:moveTo>
                  <a:pt x="0" y="0"/>
                </a:moveTo>
                <a:lnTo>
                  <a:pt x="1467597" y="0"/>
                </a:lnTo>
                <a:lnTo>
                  <a:pt x="1467597" y="1467597"/>
                </a:lnTo>
                <a:lnTo>
                  <a:pt x="0" y="14675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0577075" y="3754236"/>
            <a:ext cx="1638913" cy="1389264"/>
          </a:xfrm>
          <a:custGeom>
            <a:avLst/>
            <a:gdLst/>
            <a:ahLst/>
            <a:cxnLst/>
            <a:rect l="l" t="t" r="r" b="b"/>
            <a:pathLst>
              <a:path w="1638913" h="1389264">
                <a:moveTo>
                  <a:pt x="0" y="0"/>
                </a:moveTo>
                <a:lnTo>
                  <a:pt x="1638913" y="0"/>
                </a:lnTo>
                <a:lnTo>
                  <a:pt x="1638913" y="1389264"/>
                </a:lnTo>
                <a:lnTo>
                  <a:pt x="0" y="13892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-187606" y="103141"/>
            <a:ext cx="18288000" cy="1143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50"/>
              </a:lnSpc>
            </a:pPr>
            <a:r>
              <a:rPr lang="en-US" sz="6750">
                <a:solidFill>
                  <a:srgbClr val="FAFCFB"/>
                </a:solidFill>
                <a:latin typeface="Canva Sans"/>
                <a:ea typeface="Canva Sans"/>
                <a:cs typeface="Canva Sans"/>
                <a:sym typeface="Canva Sans"/>
              </a:rPr>
              <a:t> Data And Tool Used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707976" y="2838655"/>
            <a:ext cx="2435295" cy="580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AFCFB"/>
                </a:solidFill>
                <a:latin typeface="Canva Sans"/>
                <a:ea typeface="Canva Sans"/>
                <a:cs typeface="Canva Sans"/>
                <a:sym typeface="Canva Sans"/>
              </a:rPr>
              <a:t> Source File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970655" y="2838655"/>
            <a:ext cx="2435295" cy="580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AFCFB"/>
                </a:solidFill>
                <a:latin typeface="Canva Sans"/>
                <a:ea typeface="Canva Sans"/>
                <a:cs typeface="Canva Sans"/>
                <a:sym typeface="Canva Sans"/>
              </a:rPr>
              <a:t> Tool Used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992593" y="5343525"/>
            <a:ext cx="4172906" cy="3228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77"/>
              </a:lnSpc>
            </a:pPr>
            <a:r>
              <a:rPr lang="en-US" sz="3055">
                <a:solidFill>
                  <a:srgbClr val="FAFCFB"/>
                </a:solidFill>
                <a:latin typeface="Canva Sans"/>
                <a:ea typeface="Canva Sans"/>
                <a:cs typeface="Canva Sans"/>
                <a:sym typeface="Canva Sans"/>
              </a:rPr>
              <a:t>The analysis is based on five structured CSV files: Customer, Date, Policies, Premiums, and Settlements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129535" y="5429250"/>
            <a:ext cx="4172906" cy="3378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7"/>
              </a:lnSpc>
            </a:pPr>
            <a:r>
              <a:rPr lang="en-US" sz="2755">
                <a:solidFill>
                  <a:srgbClr val="FAFCFB"/>
                </a:solidFill>
                <a:latin typeface="Canva Sans"/>
                <a:ea typeface="Canva Sans"/>
                <a:cs typeface="Canva Sans"/>
                <a:sym typeface="Canva Sans"/>
              </a:rPr>
              <a:t>Power BI and Power Query were used to transform data, build the data model, create DAX measures, and develop interactive dashboards.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3D91">
                <a:alpha val="47000"/>
              </a:srgbClr>
            </a:gs>
            <a:gs pos="100000">
              <a:srgbClr val="0B3D91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73851"/>
            <a:chOff x="0" y="0"/>
            <a:chExt cx="4816593" cy="3881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88175"/>
            </a:xfrm>
            <a:custGeom>
              <a:avLst/>
              <a:gdLst/>
              <a:ahLst/>
              <a:cxnLst/>
              <a:rect l="l" t="t" r="r" b="b"/>
              <a:pathLst>
                <a:path w="4816592" h="388175">
                  <a:moveTo>
                    <a:pt x="0" y="0"/>
                  </a:moveTo>
                  <a:lnTo>
                    <a:pt x="4816592" y="0"/>
                  </a:lnTo>
                  <a:lnTo>
                    <a:pt x="4816592" y="388175"/>
                  </a:lnTo>
                  <a:lnTo>
                    <a:pt x="0" y="388175"/>
                  </a:lnTo>
                  <a:close/>
                </a:path>
              </a:pathLst>
            </a:custGeom>
            <a:solidFill>
              <a:srgbClr val="0D0E10">
                <a:alpha val="60000"/>
              </a:srgbClr>
            </a:solidFill>
            <a:ln w="9525" cap="sq">
              <a:solidFill>
                <a:srgbClr val="FAFCFB">
                  <a:alpha val="60000"/>
                </a:srgbClr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4816593" cy="464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778883" y="2023566"/>
            <a:ext cx="16730234" cy="7620578"/>
          </a:xfrm>
          <a:custGeom>
            <a:avLst/>
            <a:gdLst/>
            <a:ahLst/>
            <a:cxnLst/>
            <a:rect l="l" t="t" r="r" b="b"/>
            <a:pathLst>
              <a:path w="16730234" h="7620578">
                <a:moveTo>
                  <a:pt x="0" y="0"/>
                </a:moveTo>
                <a:lnTo>
                  <a:pt x="16730234" y="0"/>
                </a:lnTo>
                <a:lnTo>
                  <a:pt x="16730234" y="7620578"/>
                </a:lnTo>
                <a:lnTo>
                  <a:pt x="0" y="76205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005" t="-36058" r="-11559" b="-21473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-187606" y="103141"/>
            <a:ext cx="18288000" cy="1143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50"/>
              </a:lnSpc>
            </a:pPr>
            <a:r>
              <a:rPr lang="en-US" sz="6750">
                <a:solidFill>
                  <a:srgbClr val="FAFCFB"/>
                </a:solidFill>
                <a:latin typeface="Canva Sans"/>
                <a:ea typeface="Canva Sans"/>
                <a:cs typeface="Canva Sans"/>
                <a:sym typeface="Canva Sans"/>
              </a:rPr>
              <a:t> Data Modelling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3D91">
                <a:alpha val="47000"/>
              </a:srgbClr>
            </a:gs>
            <a:gs pos="100000">
              <a:srgbClr val="0B3D91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73851"/>
            <a:chOff x="0" y="0"/>
            <a:chExt cx="4816593" cy="3881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88175"/>
            </a:xfrm>
            <a:custGeom>
              <a:avLst/>
              <a:gdLst/>
              <a:ahLst/>
              <a:cxnLst/>
              <a:rect l="l" t="t" r="r" b="b"/>
              <a:pathLst>
                <a:path w="4816592" h="388175">
                  <a:moveTo>
                    <a:pt x="0" y="0"/>
                  </a:moveTo>
                  <a:lnTo>
                    <a:pt x="4816592" y="0"/>
                  </a:lnTo>
                  <a:lnTo>
                    <a:pt x="4816592" y="388175"/>
                  </a:lnTo>
                  <a:lnTo>
                    <a:pt x="0" y="388175"/>
                  </a:lnTo>
                  <a:close/>
                </a:path>
              </a:pathLst>
            </a:custGeom>
            <a:solidFill>
              <a:srgbClr val="0D0E10">
                <a:alpha val="60000"/>
              </a:srgbClr>
            </a:solidFill>
            <a:ln w="9525" cap="sq">
              <a:solidFill>
                <a:srgbClr val="FAFCFB">
                  <a:alpha val="60000"/>
                </a:srgbClr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4816593" cy="464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08627" y="1984010"/>
            <a:ext cx="8673270" cy="5162077"/>
          </a:xfrm>
          <a:custGeom>
            <a:avLst/>
            <a:gdLst/>
            <a:ahLst/>
            <a:cxnLst/>
            <a:rect l="l" t="t" r="r" b="b"/>
            <a:pathLst>
              <a:path w="8673270" h="5162077">
                <a:moveTo>
                  <a:pt x="0" y="0"/>
                </a:moveTo>
                <a:lnTo>
                  <a:pt x="8673270" y="0"/>
                </a:lnTo>
                <a:lnTo>
                  <a:pt x="8673270" y="5162077"/>
                </a:lnTo>
                <a:lnTo>
                  <a:pt x="0" y="51620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7037" t="-29680" r="-28119" b="-16960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134545" y="2890772"/>
            <a:ext cx="8798340" cy="5099542"/>
          </a:xfrm>
          <a:custGeom>
            <a:avLst/>
            <a:gdLst/>
            <a:ahLst/>
            <a:cxnLst/>
            <a:rect l="l" t="t" r="r" b="b"/>
            <a:pathLst>
              <a:path w="8798340" h="5099542">
                <a:moveTo>
                  <a:pt x="0" y="0"/>
                </a:moveTo>
                <a:lnTo>
                  <a:pt x="8798341" y="0"/>
                </a:lnTo>
                <a:lnTo>
                  <a:pt x="8798341" y="5099542"/>
                </a:lnTo>
                <a:lnTo>
                  <a:pt x="0" y="50995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6298" t="-26365" r="-26653" b="-22073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743093" y="3563026"/>
            <a:ext cx="9991815" cy="6272752"/>
          </a:xfrm>
          <a:custGeom>
            <a:avLst/>
            <a:gdLst/>
            <a:ahLst/>
            <a:cxnLst/>
            <a:rect l="l" t="t" r="r" b="b"/>
            <a:pathLst>
              <a:path w="9991815" h="6272752">
                <a:moveTo>
                  <a:pt x="0" y="0"/>
                </a:moveTo>
                <a:lnTo>
                  <a:pt x="9991815" y="0"/>
                </a:lnTo>
                <a:lnTo>
                  <a:pt x="9991815" y="6272753"/>
                </a:lnTo>
                <a:lnTo>
                  <a:pt x="0" y="62727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7296" t="-22576" r="-26771" b="-15469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-187606" y="103141"/>
            <a:ext cx="18288000" cy="1143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50"/>
              </a:lnSpc>
            </a:pPr>
            <a:r>
              <a:rPr lang="en-US" sz="6750">
                <a:solidFill>
                  <a:srgbClr val="FAFCFB"/>
                </a:solidFill>
                <a:latin typeface="Canva Sans"/>
                <a:ea typeface="Canva Sans"/>
                <a:cs typeface="Canva Sans"/>
                <a:sym typeface="Canva Sans"/>
              </a:rPr>
              <a:t> Project Mockup Design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3D91">
                <a:alpha val="47000"/>
              </a:srgbClr>
            </a:gs>
            <a:gs pos="100000">
              <a:srgbClr val="0B3D91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72488" y="1028700"/>
            <a:ext cx="15786812" cy="8014543"/>
            <a:chOff x="0" y="0"/>
            <a:chExt cx="4157843" cy="21108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57843" cy="2110826"/>
            </a:xfrm>
            <a:custGeom>
              <a:avLst/>
              <a:gdLst/>
              <a:ahLst/>
              <a:cxnLst/>
              <a:rect l="l" t="t" r="r" b="b"/>
              <a:pathLst>
                <a:path w="4157843" h="2110826">
                  <a:moveTo>
                    <a:pt x="15203" y="0"/>
                  </a:moveTo>
                  <a:lnTo>
                    <a:pt x="4142641" y="0"/>
                  </a:lnTo>
                  <a:cubicBezTo>
                    <a:pt x="4146673" y="0"/>
                    <a:pt x="4150540" y="1602"/>
                    <a:pt x="4153391" y="4453"/>
                  </a:cubicBezTo>
                  <a:cubicBezTo>
                    <a:pt x="4156242" y="7304"/>
                    <a:pt x="4157843" y="11171"/>
                    <a:pt x="4157843" y="15203"/>
                  </a:cubicBezTo>
                  <a:lnTo>
                    <a:pt x="4157843" y="2095624"/>
                  </a:lnTo>
                  <a:cubicBezTo>
                    <a:pt x="4157843" y="2099656"/>
                    <a:pt x="4156242" y="2103522"/>
                    <a:pt x="4153391" y="2106374"/>
                  </a:cubicBezTo>
                  <a:cubicBezTo>
                    <a:pt x="4150540" y="2109225"/>
                    <a:pt x="4146673" y="2110826"/>
                    <a:pt x="4142641" y="2110826"/>
                  </a:cubicBezTo>
                  <a:lnTo>
                    <a:pt x="15203" y="2110826"/>
                  </a:lnTo>
                  <a:cubicBezTo>
                    <a:pt x="11171" y="2110826"/>
                    <a:pt x="7304" y="2109225"/>
                    <a:pt x="4453" y="2106374"/>
                  </a:cubicBezTo>
                  <a:cubicBezTo>
                    <a:pt x="1602" y="2103522"/>
                    <a:pt x="0" y="2099656"/>
                    <a:pt x="0" y="2095624"/>
                  </a:cubicBezTo>
                  <a:lnTo>
                    <a:pt x="0" y="15203"/>
                  </a:lnTo>
                  <a:cubicBezTo>
                    <a:pt x="0" y="11171"/>
                    <a:pt x="1602" y="7304"/>
                    <a:pt x="4453" y="4453"/>
                  </a:cubicBezTo>
                  <a:cubicBezTo>
                    <a:pt x="7304" y="1602"/>
                    <a:pt x="11171" y="0"/>
                    <a:pt x="15203" y="0"/>
                  </a:cubicBezTo>
                  <a:close/>
                </a:path>
              </a:pathLst>
            </a:custGeom>
            <a:solidFill>
              <a:srgbClr val="FAFCF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4157843" cy="21870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472488" y="2415582"/>
            <a:ext cx="15512233" cy="6250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1580" lvl="1" indent="-275790" algn="l">
              <a:lnSpc>
                <a:spcPts val="3576"/>
              </a:lnSpc>
              <a:buFont typeface="Arial"/>
              <a:buChar char="•"/>
            </a:pPr>
            <a:r>
              <a:rPr lang="en-US" sz="255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Core metrics</a:t>
            </a:r>
            <a:r>
              <a:rPr lang="en-US" sz="255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– Track total number of customers and total revenue.</a:t>
            </a:r>
          </a:p>
          <a:p>
            <a:pPr marL="551580" lvl="1" indent="-275790" algn="l">
              <a:lnSpc>
                <a:spcPts val="3576"/>
              </a:lnSpc>
              <a:buFont typeface="Arial"/>
              <a:buChar char="•"/>
            </a:pPr>
            <a:r>
              <a:rPr lang="en-US" sz="255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Growth rates</a:t>
            </a:r>
            <a:r>
              <a:rPr lang="en-US" sz="255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– Monitor daily revenue growth rate and daily customer growth rate.</a:t>
            </a:r>
          </a:p>
          <a:p>
            <a:pPr marL="551580" lvl="1" indent="-275790" algn="l">
              <a:lnSpc>
                <a:spcPts val="3576"/>
              </a:lnSpc>
              <a:buFont typeface="Arial"/>
              <a:buChar char="•"/>
            </a:pPr>
            <a:r>
              <a:rPr lang="en-US" sz="255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Policy trends </a:t>
            </a:r>
            <a:r>
              <a:rPr lang="en-US" sz="255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– Track month-over-month changes in policies to spot trends and improvement areas.</a:t>
            </a:r>
          </a:p>
          <a:p>
            <a:pPr marL="551580" lvl="1" indent="-275790" algn="l">
              <a:lnSpc>
                <a:spcPts val="3576"/>
              </a:lnSpc>
              <a:buFont typeface="Arial"/>
              <a:buChar char="•"/>
            </a:pPr>
            <a:r>
              <a:rPr lang="en-US" sz="255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Segmentation </a:t>
            </a:r>
            <a:r>
              <a:rPr lang="en-US" sz="255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– Segment customers by age group, and analyze revenue and customer numbers by city and age group.</a:t>
            </a:r>
          </a:p>
          <a:p>
            <a:pPr marL="551580" lvl="1" indent="-275790" algn="l">
              <a:lnSpc>
                <a:spcPts val="3576"/>
              </a:lnSpc>
              <a:buFont typeface="Arial"/>
              <a:buChar char="•"/>
            </a:pPr>
            <a:r>
              <a:rPr lang="en-US" sz="255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Trend graphs</a:t>
            </a:r>
            <a:r>
              <a:rPr lang="en-US" sz="255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– Provide a toggle/switch between revenue trend and customer trend graphs over time.</a:t>
            </a:r>
          </a:p>
          <a:p>
            <a:pPr marL="551580" lvl="1" indent="-275790" algn="l">
              <a:lnSpc>
                <a:spcPts val="3576"/>
              </a:lnSpc>
              <a:buFont typeface="Arial"/>
              <a:buChar char="•"/>
            </a:pPr>
            <a:r>
              <a:rPr lang="en-US" sz="255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Filters </a:t>
            </a:r>
            <a:r>
              <a:rPr lang="en-US" sz="255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– Include filters for sales mode, age group, city, month, and policy ID for efficient analysis.</a:t>
            </a:r>
          </a:p>
          <a:p>
            <a:pPr marL="551580" lvl="1" indent="-275790" algn="l">
              <a:lnSpc>
                <a:spcPts val="3576"/>
              </a:lnSpc>
              <a:buFont typeface="Arial"/>
              <a:buChar char="•"/>
            </a:pPr>
            <a:r>
              <a:rPr lang="en-US" sz="255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Sales mode analysis </a:t>
            </a:r>
            <a:r>
              <a:rPr lang="en-US" sz="255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(separate page) – Show total customers and revenue split (%) by sales mode, plus month-wise sales mode trends.</a:t>
            </a:r>
          </a:p>
          <a:p>
            <a:pPr marL="551580" lvl="1" indent="-275790" algn="l">
              <a:lnSpc>
                <a:spcPts val="3576"/>
              </a:lnSpc>
              <a:buFont typeface="Arial"/>
              <a:buChar char="•"/>
            </a:pPr>
            <a:r>
              <a:rPr lang="en-US" sz="255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Age group analysis</a:t>
            </a:r>
            <a:r>
              <a:rPr lang="en-US" sz="255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(separate page) – Analyze expected settlement, sales mode, and policy preference by age group to support business decisions.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215456" y="1244152"/>
            <a:ext cx="10567343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Client Requirements Summary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3D91">
                <a:alpha val="47000"/>
              </a:srgbClr>
            </a:gs>
            <a:gs pos="100000">
              <a:srgbClr val="0B3D91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036437" y="2068712"/>
            <a:ext cx="10215127" cy="4430609"/>
            <a:chOff x="0" y="0"/>
            <a:chExt cx="2690404" cy="11669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90404" cy="1166909"/>
            </a:xfrm>
            <a:custGeom>
              <a:avLst/>
              <a:gdLst/>
              <a:ahLst/>
              <a:cxnLst/>
              <a:rect l="l" t="t" r="r" b="b"/>
              <a:pathLst>
                <a:path w="2690404" h="1166909">
                  <a:moveTo>
                    <a:pt x="23495" y="0"/>
                  </a:moveTo>
                  <a:lnTo>
                    <a:pt x="2666909" y="0"/>
                  </a:lnTo>
                  <a:cubicBezTo>
                    <a:pt x="2679885" y="0"/>
                    <a:pt x="2690404" y="10519"/>
                    <a:pt x="2690404" y="23495"/>
                  </a:cubicBezTo>
                  <a:lnTo>
                    <a:pt x="2690404" y="1143415"/>
                  </a:lnTo>
                  <a:cubicBezTo>
                    <a:pt x="2690404" y="1156391"/>
                    <a:pt x="2679885" y="1166909"/>
                    <a:pt x="2666909" y="1166909"/>
                  </a:cubicBezTo>
                  <a:lnTo>
                    <a:pt x="23495" y="1166909"/>
                  </a:lnTo>
                  <a:cubicBezTo>
                    <a:pt x="10519" y="1166909"/>
                    <a:pt x="0" y="1156391"/>
                    <a:pt x="0" y="1143415"/>
                  </a:cubicBezTo>
                  <a:lnTo>
                    <a:pt x="0" y="23495"/>
                  </a:lnTo>
                  <a:cubicBezTo>
                    <a:pt x="0" y="10519"/>
                    <a:pt x="10519" y="0"/>
                    <a:pt x="23495" y="0"/>
                  </a:cubicBezTo>
                  <a:close/>
                </a:path>
              </a:pathLst>
            </a:custGeom>
            <a:solidFill>
              <a:srgbClr val="FAFCF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2690404" cy="1243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163663" y="2320967"/>
            <a:ext cx="2701483" cy="2421511"/>
          </a:xfrm>
          <a:custGeom>
            <a:avLst/>
            <a:gdLst/>
            <a:ahLst/>
            <a:cxnLst/>
            <a:rect l="l" t="t" r="r" b="b"/>
            <a:pathLst>
              <a:path w="2701483" h="2421511">
                <a:moveTo>
                  <a:pt x="0" y="0"/>
                </a:moveTo>
                <a:lnTo>
                  <a:pt x="2701483" y="0"/>
                </a:lnTo>
                <a:lnTo>
                  <a:pt x="2701483" y="2421511"/>
                </a:lnTo>
                <a:lnTo>
                  <a:pt x="0" y="24215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286578" y="2429997"/>
            <a:ext cx="4857422" cy="1101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Thank You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286578" y="3815378"/>
            <a:ext cx="7421370" cy="174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0B3D91"/>
                </a:solidFill>
                <a:latin typeface="Canva Sans"/>
                <a:ea typeface="Canva Sans"/>
                <a:cs typeface="Canva Sans"/>
                <a:sym typeface="Canva Sans"/>
              </a:rPr>
              <a:t>Business Insights Through Data Analytics</a:t>
            </a:r>
          </a:p>
        </p:txBody>
      </p:sp>
      <p:sp>
        <p:nvSpPr>
          <p:cNvPr id="8" name="AutoShape 8"/>
          <p:cNvSpPr/>
          <p:nvPr/>
        </p:nvSpPr>
        <p:spPr>
          <a:xfrm flipV="1">
            <a:off x="9144000" y="6499320"/>
            <a:ext cx="0" cy="849357"/>
          </a:xfrm>
          <a:prstGeom prst="line">
            <a:avLst/>
          </a:prstGeom>
          <a:ln w="85725" cap="flat">
            <a:solidFill>
              <a:srgbClr val="0B3D91"/>
            </a:solidFill>
            <a:prstDash val="solid"/>
            <a:headEnd type="oval" w="lg" len="lg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grpSp>
        <p:nvGrpSpPr>
          <p:cNvPr id="9" name="Group 9"/>
          <p:cNvGrpSpPr/>
          <p:nvPr/>
        </p:nvGrpSpPr>
        <p:grpSpPr>
          <a:xfrm>
            <a:off x="5895059" y="7424966"/>
            <a:ext cx="6619346" cy="1710323"/>
            <a:chOff x="0" y="0"/>
            <a:chExt cx="1743367" cy="45045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43367" cy="450455"/>
            </a:xfrm>
            <a:custGeom>
              <a:avLst/>
              <a:gdLst/>
              <a:ahLst/>
              <a:cxnLst/>
              <a:rect l="l" t="t" r="r" b="b"/>
              <a:pathLst>
                <a:path w="1743367" h="450455">
                  <a:moveTo>
                    <a:pt x="36257" y="0"/>
                  </a:moveTo>
                  <a:lnTo>
                    <a:pt x="1707110" y="0"/>
                  </a:lnTo>
                  <a:cubicBezTo>
                    <a:pt x="1716726" y="0"/>
                    <a:pt x="1725948" y="3820"/>
                    <a:pt x="1732747" y="10620"/>
                  </a:cubicBezTo>
                  <a:cubicBezTo>
                    <a:pt x="1739547" y="17419"/>
                    <a:pt x="1743367" y="26641"/>
                    <a:pt x="1743367" y="36257"/>
                  </a:cubicBezTo>
                  <a:lnTo>
                    <a:pt x="1743367" y="414198"/>
                  </a:lnTo>
                  <a:cubicBezTo>
                    <a:pt x="1743367" y="423814"/>
                    <a:pt x="1739547" y="433036"/>
                    <a:pt x="1732747" y="439836"/>
                  </a:cubicBezTo>
                  <a:cubicBezTo>
                    <a:pt x="1725948" y="446635"/>
                    <a:pt x="1716726" y="450455"/>
                    <a:pt x="1707110" y="450455"/>
                  </a:cubicBezTo>
                  <a:lnTo>
                    <a:pt x="36257" y="450455"/>
                  </a:lnTo>
                  <a:cubicBezTo>
                    <a:pt x="26641" y="450455"/>
                    <a:pt x="17419" y="446635"/>
                    <a:pt x="10620" y="439836"/>
                  </a:cubicBezTo>
                  <a:cubicBezTo>
                    <a:pt x="3820" y="433036"/>
                    <a:pt x="0" y="423814"/>
                    <a:pt x="0" y="414198"/>
                  </a:cubicBezTo>
                  <a:lnTo>
                    <a:pt x="0" y="36257"/>
                  </a:lnTo>
                  <a:cubicBezTo>
                    <a:pt x="0" y="26641"/>
                    <a:pt x="3820" y="17419"/>
                    <a:pt x="10620" y="10620"/>
                  </a:cubicBezTo>
                  <a:cubicBezTo>
                    <a:pt x="17419" y="3820"/>
                    <a:pt x="26641" y="0"/>
                    <a:pt x="36257" y="0"/>
                  </a:cubicBezTo>
                  <a:close/>
                </a:path>
              </a:pathLst>
            </a:custGeom>
            <a:solidFill>
              <a:srgbClr val="0B3D91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76200"/>
              <a:ext cx="1743367" cy="5266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293741" y="7600677"/>
            <a:ext cx="3700519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9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Presented By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948758" y="8203927"/>
            <a:ext cx="4511949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Naveen Jhinjarye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237</Words>
  <Application>Microsoft Office PowerPoint</Application>
  <PresentationFormat>Custom</PresentationFormat>
  <Paragraphs>22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Telegraf</vt:lpstr>
      <vt:lpstr>Canva Sans</vt:lpstr>
      <vt:lpstr>Canva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Green and White Modern Insurance Presentation</dc:title>
  <cp:lastModifiedBy>Naveen jhinjarye</cp:lastModifiedBy>
  <cp:revision>2</cp:revision>
  <dcterms:created xsi:type="dcterms:W3CDTF">2006-08-16T00:00:00Z</dcterms:created>
  <dcterms:modified xsi:type="dcterms:W3CDTF">2026-07-12T16:49:02Z</dcterms:modified>
  <dc:identifier>DAHPLnPn8wA</dc:identifier>
</cp:coreProperties>
</file>